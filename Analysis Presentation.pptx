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Golos Text"/>
      <p:regular r:id="rId201314"/>
    </p:embeddedFont>
    <p:embeddedFont>
      <p:font typeface="Golos Text Medium"/>
      <p:regular r:id="rId201315"/>
    </p:embeddedFont>
    <p:embeddedFont>
      <p:font typeface="Golos Text SemiBold"/>
      <p:regular r:id="rId201316"/>
    </p:embeddedFont>
    <p:embeddedFont>
      <p:font typeface="Golos Text Bold"/>
      <p:regular r:id="rId201317"/>
    </p:embeddedFont>
    <p:embeddedFont>
      <p:font typeface="Unbounded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this as a recruiter-ready case study: a customer dataset translated into clear metrics, visual storytelling and business recommendations.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work in three parts: the business questions, the SQL toolkit and the output standard. The goal is movement from evidence to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size of the observed base. Then establish the audit trail: 3,900 purchases, an average purchase amount of $59.76 and a category mix led by Clothing.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bars from top to bottom. Clothing is the clear lead, but Accessories is substantial enough to be treated as a second engine rather than a supporting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chart to show volume, then add the revenue figures. The interpretation is deliberately careful: this is an observed mix signal, not a value judgment.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average tickets are nearly identical. The revenue difference comes from purchase volume, so the next subscription question should focus on retention, frequency or margin.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Ratings create a prioritization lens, not a final answer. Compare the highest-rated products with the top purchased items by category to decide where the next question belongs.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Discounts touch nearly half of the dataset, with Hat and Sneakers leading incidence. Shipping moves the average ticket only modestly: Express is $2.02 higher than Standard.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the segments before reading the distribution. The business read is clear: this base already contains strong repeat behavior, so the next opportunity is not only acquisition.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connecting the analysis to three practical tests. The portfolio value is the full chain: raw data, SQL structure, visual storytelling and a decision-oriented recommendation.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F2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F2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image" Target="../media/image-4-3.png"/><Relationship Id="rId4" Type="http://schemas.openxmlformats.org/officeDocument/2006/relationships/image" Target="../media/image-4-4.jpeg"/><Relationship Id="rId5" Type="http://schemas.openxmlformats.org/officeDocument/2006/relationships/image" Target="../media/image-4-5.jpe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127871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0" dirty="0">
                <a:solidFill>
                  <a:srgbClr val="FFFFFF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PORTFOLIO CASE STUDY · CUSTOMER DATA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09585" y="3530302"/>
            <a:ext cx="3620798" cy="25400"/>
          </a:xfrm>
          <a:prstGeom prst="roundRect">
            <a:avLst>
              <a:gd name="adj" fmla="val 49999"/>
            </a:avLst>
          </a:prstGeom>
          <a:solidFill>
            <a:srgbClr val="31D7D1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3955852"/>
            <a:ext cx="10972526" cy="1347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200" b="1" spc="-104" kern="0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Customer Behavior Analysis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09585" y="5506244"/>
            <a:ext cx="11582110" cy="349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From 3,900 purchases to evidence-led business decisions.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09585" y="6040239"/>
            <a:ext cx="981249" cy="284361"/>
          </a:xfrm>
          <a:prstGeom prst="roundRect">
            <a:avLst>
              <a:gd name="adj" fmla="val 4019"/>
            </a:avLst>
          </a:prstGeom>
          <a:solidFill>
            <a:srgbClr val="0C403E"/>
          </a:solidFill>
          <a:ln/>
        </p:spPr>
      </p:sp>
      <p:sp>
        <p:nvSpPr>
          <p:cNvPr id="7" name="Text 5"/>
          <p:cNvSpPr/>
          <p:nvPr/>
        </p:nvSpPr>
        <p:spPr>
          <a:xfrm>
            <a:off x="731422" y="6101159"/>
            <a:ext cx="1347158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F6F4E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Python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92431" y="6040239"/>
            <a:ext cx="661673" cy="284361"/>
          </a:xfrm>
          <a:prstGeom prst="roundRect">
            <a:avLst>
              <a:gd name="adj" fmla="val 4019"/>
            </a:avLst>
          </a:prstGeom>
          <a:solidFill>
            <a:srgbClr val="0C403E"/>
          </a:solidFill>
          <a:ln/>
        </p:spPr>
      </p:sp>
      <p:sp>
        <p:nvSpPr>
          <p:cNvPr id="9" name="Text 7"/>
          <p:cNvSpPr/>
          <p:nvPr/>
        </p:nvSpPr>
        <p:spPr>
          <a:xfrm>
            <a:off x="1814269" y="6101159"/>
            <a:ext cx="1027583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F6F4E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SQL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55702" y="6040239"/>
            <a:ext cx="1125013" cy="284361"/>
          </a:xfrm>
          <a:prstGeom prst="roundRect">
            <a:avLst>
              <a:gd name="adj" fmla="val 4019"/>
            </a:avLst>
          </a:prstGeom>
          <a:solidFill>
            <a:srgbClr val="0C403E"/>
          </a:solidFill>
          <a:ln/>
        </p:spPr>
      </p:sp>
      <p:sp>
        <p:nvSpPr>
          <p:cNvPr id="11" name="Text 9"/>
          <p:cNvSpPr/>
          <p:nvPr/>
        </p:nvSpPr>
        <p:spPr>
          <a:xfrm>
            <a:off x="2577539" y="6101159"/>
            <a:ext cx="1490923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F6F4E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Power BI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908627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18212" y="489645"/>
            <a:ext cx="4673483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0" dirty="0">
                <a:solidFill>
                  <a:srgbClr val="A9A9AE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PROJECT FRAME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7518212" y="892076"/>
            <a:ext cx="1341007" cy="25400"/>
          </a:xfrm>
          <a:prstGeom prst="roundRect">
            <a:avLst>
              <a:gd name="adj" fmla="val 49999"/>
            </a:avLst>
          </a:prstGeom>
          <a:solidFill>
            <a:srgbClr val="31D7D1"/>
          </a:solidFill>
          <a:ln/>
        </p:spPr>
      </p:sp>
      <p:sp>
        <p:nvSpPr>
          <p:cNvPr id="5" name="Text 2"/>
          <p:cNvSpPr/>
          <p:nvPr/>
        </p:nvSpPr>
        <p:spPr>
          <a:xfrm>
            <a:off x="7518212" y="1317625"/>
            <a:ext cx="4063898" cy="987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spc="-36" kern="0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 3,900-row dataset turns into a recruiter-ready case study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518212" y="2570956"/>
            <a:ext cx="749281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b="1" spc="-44" kern="0" dirty="0">
                <a:solidFill>
                  <a:srgbClr val="31D7D1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861103" y="2508151"/>
            <a:ext cx="3721007" cy="1178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F6F4E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Business lens:</a:t>
            </a:r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6F4E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understand revenue mix, customer loyalty, subscription behavior, discount exposure and delivery choice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18212" y="4206478"/>
            <a:ext cx="83738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b="1" spc="-44" kern="0" dirty="0">
                <a:solidFill>
                  <a:srgbClr val="31D7D1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949207" y="4143673"/>
            <a:ext cx="3632903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F6F4E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Toolkit:</a:t>
            </a:r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6F4E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SQL aggregation, conditional logic, window functions and customer segmentation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18212" y="5547420"/>
            <a:ext cx="83847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b="1" spc="-44" kern="0" dirty="0">
                <a:solidFill>
                  <a:srgbClr val="31D7D1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950299" y="5484614"/>
            <a:ext cx="3631811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F6F4E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Output:</a:t>
            </a:r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6F4E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a visual analysis designed to move from evidence to action, not just show a dashboard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518212" y="3908723"/>
            <a:ext cx="4063898" cy="12700"/>
          </a:xfrm>
          <a:prstGeom prst="rect">
            <a:avLst/>
          </a:prstGeom>
          <a:solidFill>
            <a:srgbClr val="3A3A3F"/>
          </a:solidFill>
          <a:ln/>
        </p:spPr>
      </p:sp>
      <p:sp>
        <p:nvSpPr>
          <p:cNvPr id="13" name="Shape 10"/>
          <p:cNvSpPr/>
          <p:nvPr/>
        </p:nvSpPr>
        <p:spPr>
          <a:xfrm>
            <a:off x="7518212" y="5249664"/>
            <a:ext cx="4063898" cy="12700"/>
          </a:xfrm>
          <a:prstGeom prst="rect">
            <a:avLst/>
          </a:prstGeom>
          <a:solidFill>
            <a:srgbClr val="3A3A3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58800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0" dirty="0">
                <a:solidFill>
                  <a:srgbClr val="A9A9AE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01 · SCALE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09585" y="961231"/>
            <a:ext cx="3620798" cy="25400"/>
          </a:xfrm>
          <a:prstGeom prst="roundRect">
            <a:avLst>
              <a:gd name="adj" fmla="val 49999"/>
            </a:avLst>
          </a:prstGeom>
          <a:solidFill>
            <a:srgbClr val="31D7D1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386780"/>
            <a:ext cx="10972526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spc="-57" kern="0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 headline is scale: $233,081 in observed revenue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09585" y="2632373"/>
            <a:ext cx="3687968" cy="36668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65176" y="3936107"/>
            <a:ext cx="2976786" cy="673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200" b="1" spc="-156" kern="0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$233k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65176" y="4812903"/>
            <a:ext cx="3586370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2" kern="0" dirty="0">
                <a:solidFill>
                  <a:srgbClr val="000000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OBSERVED REVENUE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54642" y="3206452"/>
            <a:ext cx="3185239" cy="544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200" b="1" spc="-126" kern="0" dirty="0">
                <a:solidFill>
                  <a:srgbClr val="31D7D1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3,900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754642" y="3953669"/>
            <a:ext cx="3794824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6F4E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purchases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642" y="4418112"/>
            <a:ext cx="3185239" cy="31651"/>
          </a:xfrm>
          <a:prstGeom prst="roundRect">
            <a:avLst>
              <a:gd name="adj" fmla="val 49998"/>
            </a:avLst>
          </a:prstGeom>
          <a:solidFill>
            <a:srgbClr val="26484A"/>
          </a:solidFill>
          <a:ln/>
        </p:spPr>
      </p:sp>
      <p:sp>
        <p:nvSpPr>
          <p:cNvPr id="11" name="Text 9"/>
          <p:cNvSpPr/>
          <p:nvPr/>
        </p:nvSpPr>
        <p:spPr>
          <a:xfrm>
            <a:off x="4754642" y="4683224"/>
            <a:ext cx="3185239" cy="544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200" b="1" spc="-126" kern="0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$59.76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754642" y="5430441"/>
            <a:ext cx="3794824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6F4E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average purchase amount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96970" y="3553023"/>
            <a:ext cx="3185140" cy="309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Mix already has a shape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96970" y="4008934"/>
            <a:ext cx="3185140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F6F4E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Clothing</a:t>
            </a:r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6F4E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leads at $104,264, followed by </a:t>
            </a:r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F6F4E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Accessories</a:t>
            </a:r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6F4E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at $74,200.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96970" y="5013325"/>
            <a:ext cx="3185140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2" kern="0" dirty="0">
                <a:solidFill>
                  <a:srgbClr val="F6F4EF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A CLEAN, AUDITABLE BASE FOR THE ANALYSIS.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81000"/>
            <a:ext cx="11582110" cy="144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95" kern="0" dirty="0">
                <a:solidFill>
                  <a:srgbClr val="A9A9AE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02 · REVENUE MIX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609585" y="704453"/>
            <a:ext cx="3620798" cy="25400"/>
          </a:xfrm>
          <a:prstGeom prst="roundRect">
            <a:avLst>
              <a:gd name="adj" fmla="val 49999"/>
            </a:avLst>
          </a:prstGeom>
          <a:solidFill>
            <a:srgbClr val="31D7D1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031280"/>
            <a:ext cx="10972526" cy="706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600" b="1" spc="-39" kern="0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Clothing drives the business, but Accessories is the second engine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116634"/>
            <a:ext cx="7010225" cy="275401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76998" y="1888034"/>
            <a:ext cx="3505112" cy="321121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8457988" y="2357735"/>
            <a:ext cx="2743131" cy="467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600" b="1" spc="-108" kern="0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45%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8457988" y="2975074"/>
            <a:ext cx="2743131" cy="470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Clothing's share of observed revenue.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457988" y="3578324"/>
            <a:ext cx="2743131" cy="19050"/>
          </a:xfrm>
          <a:prstGeom prst="roundRect">
            <a:avLst>
              <a:gd name="adj" fmla="val 49999"/>
            </a:avLst>
          </a:prstGeom>
          <a:solidFill>
            <a:srgbClr val="26484A"/>
          </a:solidFill>
          <a:ln/>
        </p:spPr>
      </p:sp>
      <p:sp>
        <p:nvSpPr>
          <p:cNvPr id="10" name="Text 7"/>
          <p:cNvSpPr/>
          <p:nvPr/>
        </p:nvSpPr>
        <p:spPr>
          <a:xfrm>
            <a:off x="8457988" y="3776861"/>
            <a:ext cx="2743131" cy="467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600" b="1" spc="-108" kern="0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32%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8457988" y="4394200"/>
            <a:ext cx="335271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Accessories' share.</a:t>
            </a:r>
            <a:endParaRPr lang="en-US" sz="13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5235178"/>
            <a:ext cx="1396965" cy="1397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09585" y="6693098"/>
            <a:ext cx="3238419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spc="79" kern="0" dirty="0">
                <a:solidFill>
                  <a:srgbClr val="F6F4EF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CLOTHING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815" y="5235178"/>
            <a:ext cx="1384265" cy="13843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90815" y="6680398"/>
            <a:ext cx="3238419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spc="79" kern="0" dirty="0">
                <a:solidFill>
                  <a:srgbClr val="F6F4EF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ACCESSORIES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046" y="5235178"/>
            <a:ext cx="1396965" cy="13970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72046" y="6693098"/>
            <a:ext cx="3238419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spc="79" kern="0" dirty="0">
                <a:solidFill>
                  <a:srgbClr val="F6F4EF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FOOTWEAR</a:t>
            </a:r>
            <a:endParaRPr lang="en-US" sz="10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276" y="5235178"/>
            <a:ext cx="1396965" cy="13970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953276" y="6693098"/>
            <a:ext cx="3238419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spc="79" kern="0" dirty="0">
                <a:solidFill>
                  <a:srgbClr val="F6F4EF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OUTERWEAR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82600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0" dirty="0">
                <a:solidFill>
                  <a:srgbClr val="A9A9AE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03 · CUSTOMER MIX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09585" y="885031"/>
            <a:ext cx="3620798" cy="25400"/>
          </a:xfrm>
          <a:prstGeom prst="roundRect">
            <a:avLst>
              <a:gd name="adj" fmla="val 49999"/>
            </a:avLst>
          </a:prstGeom>
          <a:solidFill>
            <a:srgbClr val="31D7D1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310580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0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 gender split is large, but it is a mix signal, not a value judgment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703711"/>
            <a:ext cx="6484478" cy="33045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51152" y="3499346"/>
            <a:ext cx="4030959" cy="309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31D7D1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2,652</a:t>
            </a:r>
            <a:pPr algn="l"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 vs 1,248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551152" y="3955256"/>
            <a:ext cx="4030959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6F4E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Male customers contribute $157,890; female customers contribute $75,191.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51152" y="4665067"/>
            <a:ext cx="4030959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2" kern="0" dirty="0">
                <a:solidFill>
                  <a:srgbClr val="F6F4EF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AVERAGE PURCHASE AMOUNT IS NOT THE STORY. THE OBSERVED DIFFERENCE IS PRIMARILY CUSTOMER MIX.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82600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0" dirty="0">
                <a:solidFill>
                  <a:srgbClr val="A9A9AE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04 · SUBSCRIPTION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09585" y="885031"/>
            <a:ext cx="3620798" cy="25400"/>
          </a:xfrm>
          <a:prstGeom prst="roundRect">
            <a:avLst>
              <a:gd name="adj" fmla="val 49999"/>
            </a:avLst>
          </a:prstGeom>
          <a:solidFill>
            <a:srgbClr val="31D7D1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310580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0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Subscription is not yet translating into higher spend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585" y="2336701"/>
            <a:ext cx="5432984" cy="40386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90575" y="2913360"/>
            <a:ext cx="5280587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2" kern="0" dirty="0">
                <a:solidFill>
                  <a:srgbClr val="000000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AVERAGE PURCHASE AMOUNT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90575" y="3280073"/>
            <a:ext cx="4671003" cy="544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200" b="1" spc="-126" kern="0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$59.49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90575" y="4027289"/>
            <a:ext cx="5280587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Subscribers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90575" y="4491732"/>
            <a:ext cx="4670903" cy="31651"/>
          </a:xfrm>
          <a:prstGeom prst="roundRect">
            <a:avLst>
              <a:gd name="adj" fmla="val 49998"/>
            </a:avLst>
          </a:prstGeom>
          <a:solidFill>
            <a:srgbClr val="26484A"/>
          </a:solidFill>
          <a:ln/>
        </p:spPr>
      </p:sp>
      <p:sp>
        <p:nvSpPr>
          <p:cNvPr id="10" name="Text 8"/>
          <p:cNvSpPr/>
          <p:nvPr/>
        </p:nvSpPr>
        <p:spPr>
          <a:xfrm>
            <a:off x="990575" y="4756845"/>
            <a:ext cx="4671003" cy="544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200" b="1" spc="-126" kern="0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$59.87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990575" y="5504061"/>
            <a:ext cx="5280587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Non-subscribers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9658" y="3478609"/>
            <a:ext cx="5082453" cy="309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Volume explains the revenue gap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99658" y="3934520"/>
            <a:ext cx="5082453" cy="1298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F6F4E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Subscribers represent </a:t>
            </a:r>
            <a:pPr algn="l" indent="0" marL="0">
              <a:lnSpc>
                <a:spcPct val="12100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F6F4E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1,053 purchases</a:t>
            </a:r>
            <a:pPr algn="l" indent="0" marL="0">
              <a:lnSpc>
                <a:spcPct val="121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F6F4E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. Non-subscribers represent </a:t>
            </a:r>
            <a:pPr algn="l" indent="0" marL="0">
              <a:lnSpc>
                <a:spcPct val="12100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F6F4E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2,847</a:t>
            </a:r>
            <a:pPr algn="l" indent="0" marL="0">
              <a:lnSpc>
                <a:spcPct val="121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F6F4E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.</a:t>
            </a:r>
            <a:endParaRPr lang="en-US" sz="16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6F4E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Test subscription on retention, frequency or margin rather than assuming it lifts ticket size.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06400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0" dirty="0">
                <a:solidFill>
                  <a:srgbClr val="A9A9AE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05 · PRODUCT SIGNALS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09585" y="808831"/>
            <a:ext cx="3620798" cy="25400"/>
          </a:xfrm>
          <a:prstGeom prst="roundRect">
            <a:avLst>
              <a:gd name="adj" fmla="val 49999"/>
            </a:avLst>
          </a:prstGeom>
          <a:solidFill>
            <a:srgbClr val="31D7D1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234380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0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Product demand is broad, so ratings help prioritize the next question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585" y="2260501"/>
            <a:ext cx="5333867" cy="4444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39776" y="2565301"/>
            <a:ext cx="5283068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2" kern="0" dirty="0">
                <a:solidFill>
                  <a:srgbClr val="000000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TOP AVERAGE-RATED PRODUCTS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39776" y="2995513"/>
            <a:ext cx="3738767" cy="309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3.86</a:t>
            </a:r>
            <a:endParaRPr lang="en-US" sz="2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8543" y="2995513"/>
            <a:ext cx="507987" cy="508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9776" y="3624163"/>
            <a:ext cx="5283068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Gloves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39776" y="4172744"/>
            <a:ext cx="3738767" cy="309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3.84</a:t>
            </a:r>
            <a:endParaRPr lang="en-US" sz="2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543" y="4172744"/>
            <a:ext cx="507987" cy="508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39776" y="4801394"/>
            <a:ext cx="5283068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Sandals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939776" y="5349974"/>
            <a:ext cx="3738767" cy="309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3.82</a:t>
            </a:r>
            <a:endParaRPr lang="en-US" sz="2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543" y="5349974"/>
            <a:ext cx="507987" cy="508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39776" y="5978624"/>
            <a:ext cx="5283068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Boots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248244" y="3241774"/>
            <a:ext cx="5333867" cy="309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The next cut is category-specific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6248244" y="3697684"/>
            <a:ext cx="5333867" cy="1540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F6F4E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Clothing:</a:t>
            </a:r>
            <a:pPr algn="l" indent="0" marL="0">
              <a:lnSpc>
                <a:spcPct val="121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F6F4E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Blouse and Pants</a:t>
            </a:r>
            <a:endParaRPr lang="en-US" sz="1600" dirty="0"/>
          </a:p>
          <a:p>
            <a:pPr algn="l" indent="0" marL="0">
              <a:lnSpc>
                <a:spcPct val="12100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F6F4E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Accessories:</a:t>
            </a:r>
            <a:pPr algn="l" indent="0" marL="0">
              <a:lnSpc>
                <a:spcPct val="121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F6F4E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Jewelry</a:t>
            </a:r>
            <a:endParaRPr lang="en-US" sz="1600" dirty="0"/>
          </a:p>
          <a:p>
            <a:pPr algn="l" indent="0" marL="0">
              <a:lnSpc>
                <a:spcPct val="12100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F6F4E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Footwear:</a:t>
            </a:r>
            <a:pPr algn="l" indent="0" marL="0">
              <a:lnSpc>
                <a:spcPct val="121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F6F4E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Sandals</a:t>
            </a:r>
            <a:endParaRPr lang="en-US" sz="16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F6F4E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Outerwear:</a:t>
            </a:r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6F4E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Jacket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248244" y="5358606"/>
            <a:ext cx="5333867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2" kern="0" dirty="0">
                <a:solidFill>
                  <a:srgbClr val="F6F4EF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PAIR DEMAND WITH RATING BEFORE CHOOSING THE NEXT PRODUCT QUESTION.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39776" y="4039394"/>
            <a:ext cx="4673483" cy="12700"/>
          </a:xfrm>
          <a:prstGeom prst="rect">
            <a:avLst/>
          </a:prstGeom>
          <a:solidFill>
            <a:srgbClr val="3A3A3F"/>
          </a:solidFill>
          <a:ln/>
        </p:spPr>
      </p:sp>
      <p:sp>
        <p:nvSpPr>
          <p:cNvPr id="20" name="Shape 15"/>
          <p:cNvSpPr/>
          <p:nvPr/>
        </p:nvSpPr>
        <p:spPr>
          <a:xfrm>
            <a:off x="939776" y="5216624"/>
            <a:ext cx="4673483" cy="12700"/>
          </a:xfrm>
          <a:prstGeom prst="rect">
            <a:avLst/>
          </a:prstGeom>
          <a:solidFill>
            <a:srgbClr val="3A3A3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82600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0" dirty="0">
                <a:solidFill>
                  <a:srgbClr val="A9A9AE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06 · PROMOTION &amp; DELIVERY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09585" y="885031"/>
            <a:ext cx="3620798" cy="25400"/>
          </a:xfrm>
          <a:prstGeom prst="roundRect">
            <a:avLst>
              <a:gd name="adj" fmla="val 49999"/>
            </a:avLst>
          </a:prstGeom>
          <a:solidFill>
            <a:srgbClr val="31D7D1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310580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0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Discounts are common, while shipping changes the ticket only slightly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585" y="2336701"/>
            <a:ext cx="4023220" cy="40386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65176" y="3618706"/>
            <a:ext cx="3312037" cy="673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200" b="1" spc="-156" kern="0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43%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65176" y="4495502"/>
            <a:ext cx="3921622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of purchases include a discount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5176" y="4910733"/>
            <a:ext cx="3921622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2" kern="0" dirty="0">
                <a:solidFill>
                  <a:srgbClr val="000000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1,677 OF 3,900 PURCHASES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89894" y="3773190"/>
            <a:ext cx="3352815" cy="309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Highest incidence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89894" y="4229100"/>
            <a:ext cx="3352815" cy="709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F6F4E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Hat:</a:t>
            </a:r>
            <a:pPr algn="l" indent="0" marL="0">
              <a:lnSpc>
                <a:spcPct val="121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F6F4E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50.0%</a:t>
            </a:r>
            <a:endParaRPr lang="en-US" sz="16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F6F4E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Sneakers:</a:t>
            </a:r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6F4E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49.7%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9798" y="3313410"/>
            <a:ext cx="2682312" cy="1820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899798" y="5216128"/>
            <a:ext cx="3291897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2" kern="0" dirty="0">
                <a:solidFill>
                  <a:srgbClr val="F6F4EF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$2.02 DIFFERENCE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82600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0" dirty="0">
                <a:solidFill>
                  <a:srgbClr val="A9A9AE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07 · LOYALTY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09585" y="885031"/>
            <a:ext cx="3620798" cy="25400"/>
          </a:xfrm>
          <a:prstGeom prst="roundRect">
            <a:avLst>
              <a:gd name="adj" fmla="val 49999"/>
            </a:avLst>
          </a:prstGeom>
          <a:solidFill>
            <a:srgbClr val="31D7D1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310580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0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 customer base is already overwhelmingly Loyal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640707"/>
            <a:ext cx="6349841" cy="34306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51152" y="3331270"/>
            <a:ext cx="4030959" cy="309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31D7D1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3,116</a:t>
            </a:r>
            <a:pPr algn="l"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 Loyal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551152" y="3787180"/>
            <a:ext cx="4030959" cy="159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F6F4E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Using previous purchases: New = 1 purchase, Returning = 2–10, Loyal = more than 10.</a:t>
            </a:r>
            <a:endParaRPr lang="en-US" sz="16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6F4E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Protecting repeat behavior is as important as acquisition.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82600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0" dirty="0">
                <a:solidFill>
                  <a:srgbClr val="A9A9AE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08 · PORTFOLIO CLOSE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09585" y="885031"/>
            <a:ext cx="3620798" cy="25400"/>
          </a:xfrm>
          <a:prstGeom prst="roundRect">
            <a:avLst>
              <a:gd name="adj" fmla="val 49999"/>
            </a:avLst>
          </a:prstGeom>
          <a:solidFill>
            <a:srgbClr val="31D7D1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310580"/>
            <a:ext cx="10972526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spc="-57" kern="0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 portfolio move: connect the query to the decision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09585" y="2556173"/>
            <a:ext cx="3454314" cy="256867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14377" y="2860973"/>
            <a:ext cx="3454314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2" kern="0" dirty="0">
                <a:solidFill>
                  <a:srgbClr val="000000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TEST NEXT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14377" y="3227685"/>
            <a:ext cx="2844729" cy="309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Subscription offers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377" y="3683595"/>
            <a:ext cx="3454314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Tie them to frequency.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68691" y="2556173"/>
            <a:ext cx="3454314" cy="256867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673483" y="2860973"/>
            <a:ext cx="3454314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2" kern="0" dirty="0">
                <a:solidFill>
                  <a:srgbClr val="000000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GUARDRAILS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73483" y="3227685"/>
            <a:ext cx="2844729" cy="309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Category discounts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73483" y="3683595"/>
            <a:ext cx="3454314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Set category-specific limits.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27797" y="2556173"/>
            <a:ext cx="3454314" cy="256867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432589" y="2860973"/>
            <a:ext cx="3454314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2" kern="0" dirty="0">
                <a:solidFill>
                  <a:srgbClr val="000000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RETENTION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432589" y="3227685"/>
            <a:ext cx="2844729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High-purchase customers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32589" y="3993455"/>
            <a:ext cx="3454314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Sharpen the messaging.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9585" y="5308997"/>
            <a:ext cx="10972526" cy="699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900" b="1" dirty="0">
                <a:solidFill>
                  <a:srgbClr val="F6F4E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What this project demonstrates:</a:t>
            </a:r>
            <a:pPr algn="l" indent="0" marL="0">
              <a:lnSpc>
                <a:spcPct val="121000"/>
              </a:lnSpc>
              <a:buNone/>
            </a:pPr>
            <a:r>
              <a:rPr lang="en-US" sz="1900" dirty="0">
                <a:solidFill>
                  <a:srgbClr val="F6F4E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turning raw customer data into clear metrics, structured SQL, visual storytelling and business recommendations.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09585" y="6192838"/>
            <a:ext cx="11582110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92" kern="0" dirty="0">
                <a:solidFill>
                  <a:srgbClr val="F6F4EF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AN ANALYSIS IS STRONGEST WHEN EVERY CHART ENDS WITH A DECISION, A TEST OR A NEXT QUESTION.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2026-09-13T11:52:00Z</dcterms:created>
  <dcterms:modified xsi:type="dcterms:W3CDTF">2026-09-13T11:52:00Z</dcterms:modified>
</cp:coreProperties>
</file>